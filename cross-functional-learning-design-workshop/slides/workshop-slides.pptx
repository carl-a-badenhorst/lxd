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DEDED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73152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[ COVER IMAGE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111111"/>
                </a:solidFill>
                <a:latin typeface="Calibri"/>
              </a:defRPr>
            </a:pPr>
            <a:r>
              <a:t>Designing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143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111111"/>
                </a:solidFill>
                <a:latin typeface="Calibri"/>
              </a:defRPr>
            </a:pPr>
            <a:r>
              <a:t>as a Cross-Functional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111111"/>
                </a:solidFill>
                <a:latin typeface="Calibri"/>
              </a:defRPr>
            </a:pPr>
            <a:r>
              <a:t>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286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135-minute design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Workshop agenda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8448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Title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Framing the Shared Object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15–30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Learning Science Core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30–50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 Mapping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50–75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Cross-Role Diagnosis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75–85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Break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r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85–110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Collaborative Redesign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r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110–125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Cross-Team Critique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r>
                        <a:t>Phase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125–135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Collaboration Charter &amp; Closing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GROUND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Before we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1">
                <a:solidFill>
                  <a:srgbClr val="111111"/>
                </a:solidFill>
                <a:latin typeface="Calibri"/>
              </a:defRPr>
            </a:pPr>
            <a:r>
              <a:t>“We’re diagnosing the system, not individuals.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1">
                <a:solidFill>
                  <a:srgbClr val="111111"/>
                </a:solidFill>
                <a:latin typeface="Calibri"/>
              </a:defRPr>
            </a:pPr>
            <a:r>
              <a:t>Misalignment is structural, not personal.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1">
                <a:solidFill>
                  <a:srgbClr val="111111"/>
                </a:solidFill>
                <a:latin typeface="Calibri"/>
              </a:defRPr>
            </a:pPr>
            <a:r>
              <a:t>Our goal is coherence, not blame.”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Return to this norm whenever tension rises during diagnosis.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E0E0E0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11111"/>
                </a:solidFill>
                <a:latin typeface="Calibri"/>
              </a:defRPr>
            </a:pPr>
            <a:r>
              <a:t>Framing the Shared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We begin by surfacing what we already believe learning is — then replacing those beliefs with an operational definition.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solidFill>
            <a:srgbClr val="DEDED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[ IMAGE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1 —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Writing prompt 1A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9144000" cy="548640"/>
          </a:xfrm>
          <a:prstGeom prst="roundRect">
            <a:avLst/>
          </a:prstGeom>
          <a:solidFill>
            <a:srgbClr val="E8E8E8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111111"/>
                </a:solidFill>
                <a:latin typeface="Calibri"/>
              </a:defRPr>
            </a:pPr>
            <a:r>
              <a:t>Define learning in one sentence.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Write without looking at the glossary. 90 seconds. No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1 —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Writing prompt 1B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9144000" cy="548640"/>
          </a:xfrm>
          <a:prstGeom prst="roundRect">
            <a:avLst/>
          </a:prstGeom>
          <a:solidFill>
            <a:srgbClr val="E8E8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111111"/>
                </a:solidFill>
                <a:latin typeface="Calibri"/>
              </a:defRPr>
            </a:pPr>
            <a:r>
              <a:t>How do you know when learning has happened?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One sentence. Write, don’t type. 90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THE OPERATIONAL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“Learning is durable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in knowledge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that enables future 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and performance.”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00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444444"/>
                </a:solidFill>
                <a:latin typeface="Calibri"/>
              </a:defRPr>
            </a:pPr>
            <a:r>
              <a:t>THREE WORDS DOING THE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85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Durable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Not fleeting. Visible months later, not minutes after.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Knowledge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Organised schemas in long-term memory, not isolated facts.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23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Enables 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97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The test is what learners can do later, not during the session.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1 —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Participation ≠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444444"/>
                </a:solidFill>
                <a:latin typeface="Calibri"/>
              </a:defRPr>
            </a:pPr>
            <a:r>
              <a:t>Most definitions of learning describe activity. Activity is what we hope causes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88888"/>
                </a:solidFill>
                <a:latin typeface="Calibri"/>
              </a:defRPr>
            </a:pPr>
            <a:r>
              <a:t>Activity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✕  Watched the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✕  Completed the quiz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✕  Attended the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✕  Submitted the reflection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Durable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111111"/>
                </a:solidFill>
                <a:latin typeface="Calibri"/>
              </a:defRPr>
            </a:pPr>
            <a:r>
              <a:t>✓  Recalls and applies the concept 6 months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111111"/>
                </a:solidFill>
                <a:latin typeface="Calibri"/>
              </a:defRPr>
            </a:pPr>
            <a:r>
              <a:t>✓  Transfers knowledge to a novel situation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111111"/>
                </a:solidFill>
                <a:latin typeface="Calibri"/>
              </a:defRPr>
            </a:pPr>
            <a:r>
              <a:t>✓  Performs competently under real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14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111111"/>
                </a:solidFill>
                <a:latin typeface="Calibri"/>
              </a:defRPr>
            </a:pPr>
            <a:r>
              <a:t>✓  Judgment improves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1 —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Writing prompt 1C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1.  What must learners be able to do 6–12 months after your module, in real conditions?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2.  What cognitive change must occur for that to be possible?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3 minutes individual writing. Share two or three responses before moving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E0E0E0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11111"/>
                </a:solidFill>
                <a:latin typeface="Calibri"/>
              </a:defRPr>
            </a:pPr>
            <a:r>
              <a:t>Learning Science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Three commitments that every design decision in this room must be accountable 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solidFill>
            <a:srgbClr val="DEDED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[ IMAGE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2 — RECALL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Close your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Without looking, write the three learning science commitments from the pre-work. Two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Silence is intentional. Do not help your neighbour.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888888"/>
                </a:solidFill>
              </a:defRPr>
            </a:pPr>
            <a: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2 —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The three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11111"/>
                </a:solidFill>
                <a:latin typeface="Calibri"/>
              </a:defRPr>
            </a:pPr>
            <a:r>
              <a:t>1.  Memory precedes complex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11111"/>
                </a:solidFill>
                <a:latin typeface="Calibri"/>
              </a:defRPr>
            </a:pPr>
            <a:r>
              <a:t>2.  Retrieval strengthens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11111"/>
                </a:solidFill>
                <a:latin typeface="Calibri"/>
              </a:defRPr>
            </a:pPr>
            <a:r>
              <a:t>3.  Cognitive load must be managed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How many did you get? These three commitments are the arbitration language for every design decision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Commitment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Memory precedes complex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</a:defRPr>
            </a:pPr>
            <a:r>
              <a:t>You cannot analyse, evaluate or create with knowledge you cannot recall. Higher-order cognitive operations require accessible knowledge structures in long-term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0972800" cy="10972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444444"/>
                </a:solidFill>
                <a:latin typeface="Calibri"/>
              </a:defRPr>
            </a:pPr>
            <a:r>
              <a:t>Design implication: Sequence instruction so foundational knowledge is encoded and retrievable before learners are asked to apply it in complex 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Commitment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Retrieval strengthens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</a:defRPr>
            </a:pPr>
            <a:r>
              <a:t>Actively recalling information from memory strengthens the neural pathways that make future recall easier. Re-reading or re-watching does not produce the same effect.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0972800" cy="10972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444444"/>
                </a:solidFill>
                <a:latin typeface="Calibri"/>
              </a:defRPr>
            </a:pPr>
            <a:r>
              <a:t>Design implication: Build retrieval opportunities into the design with specific timing, mechanisms and spacing. Retrieval is not a test event — it is an instructional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Commitment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Cognitive load must be managed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</a:defRPr>
            </a:pPr>
            <a:r>
              <a:t>Working memory is limited. Extraneous cognitive load — effort not contributing to schema formation — reduces the capacity available for learning. Complexity and novelty must be introduced deliberately, not simultaneously.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0972800" cy="10972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444444"/>
                </a:solidFill>
                <a:latin typeface="Calibri"/>
              </a:defRPr>
            </a:pPr>
            <a:r>
              <a:t>Design implication: Remove presentation elements that do not serve the learning objective. Manage the number of new concepts introduced at once. Use worked examples before independent problem-solving.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2 — Role-based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Apply the commitments to your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Form role-based groups. Discuss the three questions below. 10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111111"/>
                </a:solidFill>
                <a:latin typeface="Calibri"/>
              </a:defRPr>
            </a:pPr>
            <a:r>
              <a:t>1.  Where is retrieval structured in your typical design work? Name a specific artefact or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111111"/>
                </a:solidFill>
                <a:latin typeface="Calibri"/>
              </a:defRPr>
            </a:pPr>
            <a:r>
              <a:t>2.  Where might cognitive load be excessive? Name a specific module, assessment or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111111"/>
                </a:solidFill>
                <a:latin typeface="Calibri"/>
              </a:defRPr>
            </a:pPr>
            <a:r>
              <a:t>3.  Where is thinking hidden? Where do learners perform activity without their reasoning being visible?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2 —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Diagnosis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Before we diagnose your work, let’s practice on this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30352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88888"/>
                </a:solidFill>
                <a:latin typeface="Calibri"/>
              </a:defRPr>
            </a:pPr>
            <a:r>
              <a:t>MODULE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Evaluate ethical frameworks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30352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88888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Multiple-choice quiz on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444444"/>
                </a:solidFill>
                <a:latin typeface="Calibri"/>
              </a:defRPr>
            </a:pPr>
            <a:r>
              <a:t>What is the misalignment? Write your answer before the next slide.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2 — Worked example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The diagnosis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40080">
                <a:tc>
                  <a:txBody>
                    <a:bodyPr/>
                    <a:lstStyle/>
                    <a:p>
                      <a:r>
                        <a:t>OUTCOME DEMANDS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Evaluation — apply a schema to a novel ethical situation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ASSESSMENT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Recognition memory — recall of labels and definitions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Schema application requires accessible knowledge AND practiced judgment. The assessment only tests the first condition.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COMMITMENT VIOLATED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Memory precedes complex thinking: the assessment never asks learners to think.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E0E0E0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11111"/>
                </a:solidFill>
                <a:latin typeface="Calibri"/>
              </a:defRPr>
            </a:pPr>
            <a:r>
              <a:t>Role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Each role mediates learning differently. Making those differences concrete is the first step toward genuine coordination.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solidFill>
            <a:srgbClr val="DEDED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[ IMAGE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3 — Role clarification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Work within your role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Use the prompts in your workbook. 15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68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89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Curriculum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44444"/>
                </a:solidFill>
                <a:latin typeface="Calibri"/>
              </a:defRPr>
            </a:pPr>
            <a:r>
              <a:t>Alignment, sequencing, transfer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68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389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Learning / Experience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44444"/>
                </a:solidFill>
                <a:latin typeface="Calibri"/>
              </a:defRPr>
            </a:pPr>
            <a:r>
              <a:t>Cognitive operations, retrieval, visible reasoning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5303520" cy="68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670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Multimedia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944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44444"/>
                </a:solidFill>
                <a:latin typeface="Calibri"/>
              </a:defRPr>
            </a:pPr>
            <a:r>
              <a:t>Cognitive function, load, schema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303520" cy="68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670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Learning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944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44444"/>
                </a:solidFill>
                <a:latin typeface="Calibri"/>
              </a:defRPr>
            </a:pPr>
            <a:r>
              <a:t>Affordances, constraints,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3 — Cross-role perspective taking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Pair with a different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Step 1   Describe a real design decision you made recently.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444444"/>
                </a:solidFill>
                <a:latin typeface="Calibri"/>
              </a:defRPr>
            </a:pPr>
            <a:r>
              <a:t>Step 2   Your partner identifies which learning science commitment it serves — or violates.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444444"/>
                </a:solidFill>
                <a:latin typeface="Calibri"/>
              </a:defRPr>
            </a:pPr>
            <a:r>
              <a:t>Step 3   Switch. 2 minutes per person.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The question shifts.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AAAAAA"/>
                </a:solidFill>
                <a:latin typeface="Calibri"/>
              </a:defRPr>
            </a:pPr>
            <a:r>
              <a:t>From: “What does my role do?”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To: “Where is the system failing the learner?”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Mixed-role team assignments will now be revealed.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888888"/>
                </a:solidFill>
              </a:defRPr>
            </a:pPr>
            <a: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E0E0E0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11111"/>
                </a:solidFill>
                <a:latin typeface="Calibri"/>
              </a:defRPr>
            </a:pPr>
            <a:r>
              <a:t>Cross-Role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Apply learning science as a shared diagnostic lens to real design artefacts you brought to this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solidFill>
            <a:srgbClr val="DEDED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[ IMAGE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4 — Ground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Reminder before we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1">
                <a:solidFill>
                  <a:srgbClr val="111111"/>
                </a:solidFill>
                <a:latin typeface="Calibri"/>
              </a:defRPr>
            </a:pPr>
            <a:r>
              <a:t>“We’re diagnosing the system, not individuals.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1">
                <a:solidFill>
                  <a:srgbClr val="111111"/>
                </a:solidFill>
                <a:latin typeface="Calibri"/>
              </a:defRPr>
            </a:pPr>
            <a:r>
              <a:t>Misalignment is structural, not personal.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1">
                <a:solidFill>
                  <a:srgbClr val="111111"/>
                </a:solidFill>
                <a:latin typeface="Calibri"/>
              </a:defRPr>
            </a:pPr>
            <a:r>
              <a:t>Our goal is coherence, not blame.”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Point to specific elements in the artefact. Not general impressions.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4 — 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5 minutes. Point to specific elements in the artefact.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1.  What must learners remember?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2.  Where is retrieval structured?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3.  Where is thinking visible?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4.  Where is cognitive load unnecessary?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4 —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Diagnose misalignment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20 minutes. Work through both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5.  Where do role decisions contradict each other?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444444"/>
                </a:solidFill>
                <a:latin typeface="Calibri"/>
              </a:defRPr>
            </a:pPr>
            <a:r>
              <a:t>List at least two contradictions.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6.  Which contradictions most impair learning?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444444"/>
                </a:solidFill>
                <a:latin typeface="Calibri"/>
              </a:defRPr>
            </a:pPr>
            <a:r>
              <a:t>Rank by impact on the learner. This is your redesign focus.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CCCCCC"/>
                </a:solidFill>
                <a:latin typeface="Calibri"/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444444"/>
                </a:solidFill>
                <a:latin typeface="Calibri"/>
              </a:defRPr>
            </a:pPr>
            <a:r>
              <a:t>When you return: identify the one misalignment most blocking learning. That is your redesign focus.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E0E0E0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11111"/>
                </a:solidFill>
                <a:latin typeface="Calibri"/>
              </a:defRPr>
            </a:pPr>
            <a:r>
              <a:t>Collaborative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Translate the diagnosis into a coherent, learning-science-grounded redesign. Seven sections. One capability object. All roles contributing.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solidFill>
            <a:srgbClr val="DEDED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[ IMAGE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5 — Redesign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Seven sections. One coherent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Use the template in your workbook. 25 minutes. Coherent &gt; complete.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868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898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2763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Capability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71600"/>
            <a:ext cx="2651760" cy="868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3898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62763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Retrieval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2651760" cy="868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13898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162763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Visible 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59" y="1371600"/>
            <a:ext cx="2651760" cy="868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1" y="13898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162763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Load Reduction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377440"/>
            <a:ext cx="2651760" cy="868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957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3347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Media Justification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377440"/>
            <a:ext cx="2651760" cy="868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23957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263347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Platform Alignment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377440"/>
            <a:ext cx="2651760" cy="868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23957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263347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111111"/>
                </a:solidFill>
                <a:latin typeface="Calibri"/>
              </a:defRPr>
            </a:pPr>
            <a:r>
              <a:t>Connection to Programme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5 — Learning Science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Before the gallery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Complete the Learning Science Justification section. If you cannot answer these, the redesign is not yet grounded in science.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What memory structures are strengthened by this redesign?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Where is retrieval embedded, and at what intervals?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What cognitive load decisions were made? What was added, what was removed, and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E0E0E0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11111"/>
                </a:solidFill>
                <a:latin typeface="Calibri"/>
              </a:defRPr>
            </a:pPr>
            <a:r>
              <a:t>Cross-Team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Structured feedback grounded in learning science. Three notes per redesign. No general impressions.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6 — Gallery walk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Three notes. Every reviewer. Every redesign.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Review at least two redesigns. 15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Green sticky — Strength: What aligns well with learning science? Name the commitment it serves.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Yellow sticky — Tension: Where might the design impair learning? Name the commitment it violates.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Blue sticky — Clarification question: What needs more explanation to evaluate the design?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E0E0E0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11111"/>
                </a:solidFill>
                <a:latin typeface="Calibri"/>
              </a:defRPr>
            </a:pPr>
            <a:r>
              <a:t>Collaboration Charter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Convert individual insight into concrete, accountable collective commitment.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7 — Individual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Write before you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44444"/>
                </a:solidFill>
                <a:latin typeface="Calibri"/>
              </a:defRPr>
            </a:pPr>
            <a:r>
              <a:t>3 minutes. Individual writing first. No discussion until everyone has written.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—  One decision I will no longer make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—  One role I need earlier in the design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—  One learning science principle I will use in future discussions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—  One process change we will implement in the next design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Phase 7 — 30-day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11111"/>
                </a:solidFill>
                <a:latin typeface="Calibri"/>
              </a:defRPr>
            </a:pPr>
            <a:r>
              <a:t>In 4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444444"/>
                </a:solidFill>
                <a:latin typeface="Calibri"/>
              </a:defRPr>
            </a:pPr>
            <a:r>
              <a:t>We meet for 30 minutes. Each role shares three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1.  One decision you made differently since the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2.  One place where collaboration improved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3.  One remaining misalignment that needs addressing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888888"/>
                </a:solidFill>
                <a:latin typeface="Calibri"/>
              </a:defRPr>
            </a:pPr>
            <a:r>
              <a:t>Calendar invitations go out today. This is not optional.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Designing Learning as a Cross-Functional Activity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CLOSING RETRIEVAL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No notes. Write three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—  How you now define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—  One way your role mediates cognitive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—  One collaboration commitment you are taking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 minutes. Silent. These are for you, not for the group.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888888"/>
                </a:solidFill>
              </a:defRPr>
            </a:pPr>
            <a: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DEDED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493776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[ CLOSING IMAGE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20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66666"/>
                </a:solidFill>
                <a:latin typeface="Calibri"/>
              </a:defRPr>
            </a:pPr>
            <a:r>
              <a:t>YOU LEAVE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685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—  A redesigned learning experience artefact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—  A shared operational definition of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325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—  Practical learning science commitments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4591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—  A cross-role collaboration charter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65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—  A 30-day follow-up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888888"/>
                </a:solidFill>
              </a:defRPr>
            </a:pPr>
            <a: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